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94360"/>
            <a:ext cx="75895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500" b="1">
                <a:solidFill>
                  <a:srgbClr val="161E2C"/>
                </a:solidFill>
              </a:defRPr>
            </a:pPr>
            <a:r>
              <a:t>Современные гаджеты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261872"/>
            <a:ext cx="7498079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0">
                <a:solidFill>
                  <a:srgbClr val="5C697B"/>
                </a:solidFill>
              </a:defRPr>
            </a:pPr>
            <a:r>
              <a:t>Что изменилось в нашей жизни благодаря технологиям?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70408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161E2C"/>
                </a:solidFill>
              </a:defRPr>
            </a:pPr>
            <a:r>
              <a:t>Телефон в кармане, часы на руке, наушники в ушах — гаджеты окружают нас каждый день.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366760" y="1828800"/>
            <a:ext cx="1382572" cy="2501798"/>
          </a:xfrm>
          <a:prstGeom prst="roundRect">
            <a:avLst/>
          </a:prstGeom>
          <a:solidFill>
            <a:srgbClr val="161E2C"/>
          </a:solidFill>
          <a:ln>
            <a:solidFill>
              <a:srgbClr val="161E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472098" y="2039477"/>
            <a:ext cx="1171895" cy="1975104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16939" y="2651760"/>
            <a:ext cx="888796" cy="26334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3460D2"/>
                </a:solidFill>
              </a:defRPr>
            </a:pPr>
            <a:r>
              <a:t>14:02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30107" y="3507638"/>
            <a:ext cx="855878" cy="1975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5C697B"/>
                </a:solidFill>
              </a:defRPr>
            </a:pPr>
            <a:r>
              <a:t>●  ●  ●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905512" y="2103120"/>
            <a:ext cx="360639" cy="2121408"/>
          </a:xfrm>
          <a:prstGeom prst="roundRect">
            <a:avLst/>
          </a:prstGeom>
          <a:solidFill>
            <a:srgbClr val="5C697B"/>
          </a:solidFill>
          <a:ln>
            <a:solidFill>
              <a:srgbClr val="5C6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555480" y="2559222"/>
            <a:ext cx="1060704" cy="1060704"/>
          </a:xfrm>
          <a:prstGeom prst="ellipse">
            <a:avLst/>
          </a:prstGeom>
          <a:solidFill>
            <a:srgbClr val="161E2C"/>
          </a:solidFill>
          <a:ln>
            <a:solidFill>
              <a:srgbClr val="161E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661550" y="2665293"/>
            <a:ext cx="848563" cy="848563"/>
          </a:xfrm>
          <a:prstGeom prst="ellipse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41103" y="2925165"/>
            <a:ext cx="689457" cy="18562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3460D2"/>
                </a:solidFill>
              </a:defRPr>
            </a:pPr>
            <a:r>
              <a:t>09:41</a:t>
            </a:r>
          </a:p>
        </p:txBody>
      </p:sp>
      <p:sp>
        <p:nvSpPr>
          <p:cNvPr id="13" name="Oval 12"/>
          <p:cNvSpPr/>
          <p:nvPr/>
        </p:nvSpPr>
        <p:spPr>
          <a:xfrm>
            <a:off x="10195560" y="3925062"/>
            <a:ext cx="487375" cy="624078"/>
          </a:xfrm>
          <a:prstGeom prst="ellipse">
            <a:avLst/>
          </a:prstGeom>
          <a:solidFill>
            <a:srgbClr val="161E2C"/>
          </a:solidFill>
          <a:ln>
            <a:solidFill>
              <a:srgbClr val="161E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0373868" y="4400550"/>
            <a:ext cx="130759" cy="564642"/>
          </a:xfrm>
          <a:prstGeom prst="roundRect">
            <a:avLst/>
          </a:prstGeom>
          <a:solidFill>
            <a:srgbClr val="161E2C"/>
          </a:solidFill>
          <a:ln>
            <a:solidFill>
              <a:srgbClr val="161E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789920" y="3925062"/>
            <a:ext cx="487375" cy="624078"/>
          </a:xfrm>
          <a:prstGeom prst="ellipse">
            <a:avLst/>
          </a:prstGeom>
          <a:solidFill>
            <a:srgbClr val="161E2C"/>
          </a:solidFill>
          <a:ln>
            <a:solidFill>
              <a:srgbClr val="161E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0968228" y="4400550"/>
            <a:ext cx="130759" cy="564642"/>
          </a:xfrm>
          <a:prstGeom prst="roundRect">
            <a:avLst/>
          </a:prstGeom>
          <a:solidFill>
            <a:srgbClr val="161E2C"/>
          </a:solidFill>
          <a:ln>
            <a:solidFill>
              <a:srgbClr val="161E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0314432" y="4935474"/>
            <a:ext cx="980694" cy="534924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623499" y="5054346"/>
            <a:ext cx="326898" cy="1783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8452DC"/>
                </a:solidFill>
              </a:defRPr>
            </a:pPr>
            <a:r>
              <a:t>♫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32520" y="516636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8452DC"/>
                </a:solidFill>
              </a:defRPr>
            </a:pPr>
            <a:r>
              <a:t>AI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92840" y="6428232"/>
            <a:ext cx="320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5C697B"/>
                </a:solidFill>
              </a:defRPr>
            </a:pPr>
            <a: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6080760"/>
            <a:ext cx="6766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5C697B"/>
                </a:solidFill>
              </a:defRPr>
            </a:pPr>
            <a:r>
              <a:t>Посмотрим, какие гаджеты уже стали частью нашей повседневности.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900" b="1">
                <a:solidFill>
                  <a:srgbClr val="161E2C"/>
                </a:solidFill>
              </a:defRPr>
            </a:pPr>
            <a:r>
              <a:t>Гаджеты вокруг нас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87552"/>
            <a:ext cx="10332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0">
                <a:solidFill>
                  <a:srgbClr val="5C697B"/>
                </a:solidFill>
              </a:defRPr>
            </a:pPr>
            <a:r>
              <a:t>Небольшие устройства — большие возможности.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554480"/>
            <a:ext cx="65836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900">
                <a:solidFill>
                  <a:srgbClr val="161E2C"/>
                </a:solidFill>
              </a:defRPr>
            </a:pPr>
            <a:r>
              <a:t>• Гаджеты помогают нам быть на связи, получать информацию и решать бытовые задачи.</a:t>
            </a:r>
          </a:p>
          <a:p>
            <a:pPr>
              <a:spcAft>
                <a:spcPts val="1500"/>
              </a:spcAft>
              <a:defRPr sz="1900">
                <a:solidFill>
                  <a:srgbClr val="161E2C"/>
                </a:solidFill>
              </a:defRPr>
            </a:pPr>
            <a:r>
              <a:t>• Их главная особенность — много функций в компактном устройстве.</a:t>
            </a:r>
          </a:p>
          <a:p>
            <a:pPr>
              <a:spcAft>
                <a:spcPts val="1500"/>
              </a:spcAft>
              <a:defRPr sz="1900">
                <a:solidFill>
                  <a:srgbClr val="161E2C"/>
                </a:solidFill>
              </a:defRPr>
            </a:pPr>
            <a:r>
              <a:t>• Сегодня многие гаджеты умеют «общаться» друг с другом через интернет.</a:t>
            </a:r>
          </a:p>
        </p:txBody>
      </p:sp>
      <p:sp>
        <p:nvSpPr>
          <p:cNvPr id="5" name="Oval 4"/>
          <p:cNvSpPr/>
          <p:nvPr/>
        </p:nvSpPr>
        <p:spPr>
          <a:xfrm>
            <a:off x="8366760" y="1737360"/>
            <a:ext cx="1828800" cy="1828800"/>
          </a:xfrm>
          <a:prstGeom prst="ellipse">
            <a:avLst/>
          </a:prstGeom>
          <a:solidFill>
            <a:srgbClr val="5C697B"/>
          </a:solidFill>
          <a:ln>
            <a:solidFill>
              <a:srgbClr val="5C6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933688" y="2304288"/>
            <a:ext cx="694944" cy="694944"/>
          </a:xfrm>
          <a:prstGeom prst="ellipse">
            <a:avLst/>
          </a:prstGeom>
          <a:solidFill>
            <a:srgbClr val="3460D2"/>
          </a:solidFill>
          <a:ln>
            <a:solidFill>
              <a:srgbClr val="346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06840" y="2505456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AI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921240" y="1965960"/>
            <a:ext cx="128016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0" y="2130552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0">
                <a:solidFill>
                  <a:srgbClr val="EF7D2A"/>
                </a:solidFill>
              </a:defRPr>
            </a:pPr>
            <a:r>
              <a:t>💡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829800" y="3154680"/>
            <a:ext cx="155448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0" y="342900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3460D2"/>
                </a:solidFill>
              </a:defRPr>
            </a:pPr>
            <a:r>
              <a:t>ROBOT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92840" y="6428232"/>
            <a:ext cx="320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5C697B"/>
                </a:solidFill>
              </a:defRPr>
            </a:pPr>
            <a:r>
              <a:t>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46520" y="5074920"/>
            <a:ext cx="480060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3460D2"/>
                </a:solidFill>
              </a:defRPr>
            </a:pPr>
            <a:r>
              <a:t>ИНТЕРЕСНЫЙ ФАКТ</a:t>
            </a:r>
          </a:p>
          <a:p>
            <a:pPr>
              <a:spcBef>
                <a:spcPts val="200"/>
              </a:spcBef>
              <a:defRPr sz="1200">
                <a:solidFill>
                  <a:srgbClr val="161E2C"/>
                </a:solidFill>
              </a:defRPr>
            </a:pPr>
            <a:r>
              <a:t>Современный гаджет часто объединяет функции нескольких старых устройств: камеры, калькулятора, плеера, навигатора и диктофона.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900" b="1">
                <a:solidFill>
                  <a:srgbClr val="161E2C"/>
                </a:solidFill>
              </a:defRPr>
            </a:pPr>
            <a:r>
              <a:t>Смартфон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87552"/>
            <a:ext cx="10332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0">
                <a:solidFill>
                  <a:srgbClr val="5C697B"/>
                </a:solidFill>
              </a:defRPr>
            </a:pPr>
            <a:r>
              <a:t>Устройство, без которого многие уже не представляют свой день.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60520" y="1554480"/>
            <a:ext cx="7132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900">
                <a:solidFill>
                  <a:srgbClr val="161E2C"/>
                </a:solidFill>
              </a:defRPr>
            </a:pPr>
            <a:r>
              <a:t>• Позвонить? Да. Сделать фото? Конечно.</a:t>
            </a:r>
          </a:p>
          <a:p>
            <a:pPr>
              <a:spcAft>
                <a:spcPts val="1500"/>
              </a:spcAft>
              <a:defRPr sz="1900">
                <a:solidFill>
                  <a:srgbClr val="161E2C"/>
                </a:solidFill>
              </a:defRPr>
            </a:pPr>
            <a:r>
              <a:t>• Найти дорогу, оплатить покупку, учиться, работать или посмотреть фильм — всё это тоже смартфон.</a:t>
            </a:r>
          </a:p>
          <a:p>
            <a:pPr>
              <a:spcAft>
                <a:spcPts val="1500"/>
              </a:spcAft>
              <a:defRPr sz="1900">
                <a:solidFill>
                  <a:srgbClr val="161E2C"/>
                </a:solidFill>
              </a:defRPr>
            </a:pPr>
            <a:r>
              <a:t>• По сути, в кармане у нас маленький универсальный компьютер.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645920"/>
            <a:ext cx="2016252" cy="3648456"/>
          </a:xfrm>
          <a:prstGeom prst="roundRect">
            <a:avLst/>
          </a:prstGeom>
          <a:solidFill>
            <a:srgbClr val="161E2C"/>
          </a:solidFill>
          <a:ln>
            <a:solidFill>
              <a:srgbClr val="161E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76579" y="1953158"/>
            <a:ext cx="1709013" cy="288036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7805" y="2846070"/>
            <a:ext cx="129616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3460D2"/>
                </a:solidFill>
              </a:defRPr>
            </a:pPr>
            <a:r>
              <a:t>14:02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07008" y="4094226"/>
            <a:ext cx="1248156" cy="2880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5C697B"/>
                </a:solidFill>
              </a:defRPr>
            </a:pPr>
            <a:r>
              <a:t>●  ●  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320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5C697B"/>
                </a:solidFill>
              </a:defRPr>
            </a:pPr>
            <a:r>
              <a:t>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069080" y="5074920"/>
            <a:ext cx="690372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3460D2"/>
                </a:solidFill>
              </a:defRPr>
            </a:pPr>
            <a:r>
              <a:t>ПОЧЕМУ СМАРТФОН ТАК ВАЖЕН?</a:t>
            </a:r>
          </a:p>
          <a:p>
            <a:pPr>
              <a:spcBef>
                <a:spcPts val="200"/>
              </a:spcBef>
              <a:defRPr sz="1200">
                <a:solidFill>
                  <a:srgbClr val="161E2C"/>
                </a:solidFill>
              </a:defRPr>
            </a:pPr>
            <a:r>
              <a:t>Он всегда рядом и умеет быстро получать данные из интернета. Поэтому смартфон стал главным инструментом для связи и повседневных задач.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900" b="1">
                <a:solidFill>
                  <a:srgbClr val="161E2C"/>
                </a:solidFill>
              </a:defRPr>
            </a:pPr>
            <a:r>
              <a:t>Ноутбук и планшет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87552"/>
            <a:ext cx="10332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0">
                <a:solidFill>
                  <a:srgbClr val="5C697B"/>
                </a:solidFill>
              </a:defRPr>
            </a:pPr>
            <a:r>
              <a:t>Когда экран становится рабочим инструментом.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554480"/>
            <a:ext cx="65836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900">
                <a:solidFill>
                  <a:srgbClr val="161E2C"/>
                </a:solidFill>
              </a:defRPr>
            </a:pPr>
            <a:r>
              <a:t>• Ноутбук удобен для учёбы, программирования, документов и творчества.</a:t>
            </a:r>
          </a:p>
          <a:p>
            <a:pPr>
              <a:spcAft>
                <a:spcPts val="1500"/>
              </a:spcAft>
              <a:defRPr sz="1900">
                <a:solidFill>
                  <a:srgbClr val="161E2C"/>
                </a:solidFill>
              </a:defRPr>
            </a:pPr>
            <a:r>
              <a:t>• Планшет легче: читать, рисовать или смотреть видео можно практически где угодно.</a:t>
            </a:r>
          </a:p>
          <a:p>
            <a:pPr>
              <a:spcAft>
                <a:spcPts val="1500"/>
              </a:spcAft>
              <a:defRPr sz="1900">
                <a:solidFill>
                  <a:srgbClr val="161E2C"/>
                </a:solidFill>
              </a:defRPr>
            </a:pPr>
            <a:r>
              <a:t>• А с клавиатурой и стилусом граница между устройствами становится всё меньше.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366760" y="1828800"/>
            <a:ext cx="3044952" cy="1933956"/>
          </a:xfrm>
          <a:prstGeom prst="roundRect">
            <a:avLst/>
          </a:prstGeom>
          <a:solidFill>
            <a:srgbClr val="161E2C"/>
          </a:solidFill>
          <a:ln>
            <a:solidFill>
              <a:srgbClr val="161E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514892" y="1976932"/>
            <a:ext cx="2748686" cy="1522476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01684" y="2421331"/>
            <a:ext cx="1810512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8452DC"/>
                </a:solidFill>
              </a:defRPr>
            </a:pPr>
            <a:r>
              <a:t>CREATIVE</a:t>
            </a:r>
          </a:p>
        </p:txBody>
      </p:sp>
      <p:sp>
        <p:nvSpPr>
          <p:cNvPr id="8" name="Trapezoid 7"/>
          <p:cNvSpPr/>
          <p:nvPr/>
        </p:nvSpPr>
        <p:spPr>
          <a:xfrm>
            <a:off x="8161020" y="3680460"/>
            <a:ext cx="3456432" cy="312724"/>
          </a:xfrm>
          <a:prstGeom prst="trapezoid">
            <a:avLst/>
          </a:prstGeom>
          <a:solidFill>
            <a:srgbClr val="5C697B"/>
          </a:solidFill>
          <a:ln>
            <a:solidFill>
              <a:srgbClr val="5C6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320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5C697B"/>
                </a:solidFill>
              </a:defRPr>
            </a:pPr>
            <a:r>
              <a:t>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46520" y="5074920"/>
            <a:ext cx="480060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3460D2"/>
                </a:solidFill>
              </a:defRPr>
            </a:pPr>
            <a:r>
              <a:t>ЧТО ВЫБРАТЬ?</a:t>
            </a:r>
          </a:p>
          <a:p>
            <a:pPr>
              <a:spcBef>
                <a:spcPts val="200"/>
              </a:spcBef>
              <a:defRPr sz="1200">
                <a:solidFill>
                  <a:srgbClr val="161E2C"/>
                </a:solidFill>
              </a:defRPr>
            </a:pPr>
            <a:r>
              <a:t>Ноутбук обычно удобнее для длительной работы, а планшет — для мобильности. Выбор зависит от задачи, а не только от размера экрана.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900" b="1">
                <a:solidFill>
                  <a:srgbClr val="161E2C"/>
                </a:solidFill>
              </a:defRPr>
            </a:pPr>
            <a:r>
              <a:t>Умные часы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87552"/>
            <a:ext cx="10332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0">
                <a:solidFill>
                  <a:srgbClr val="5C697B"/>
                </a:solidFill>
              </a:defRPr>
            </a:pPr>
            <a:r>
              <a:t>Смартфон можно оставить в кармане — часы покажут главное.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60520" y="1554480"/>
            <a:ext cx="7132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900">
                <a:solidFill>
                  <a:srgbClr val="161E2C"/>
                </a:solidFill>
              </a:defRPr>
            </a:pPr>
            <a:r>
              <a:t>• На экране появляются сообщения и звонки, а датчики помогают отслеживать активность.</a:t>
            </a:r>
          </a:p>
          <a:p>
            <a:pPr>
              <a:spcAft>
                <a:spcPts val="1500"/>
              </a:spcAft>
              <a:defRPr sz="1900">
                <a:solidFill>
                  <a:srgbClr val="161E2C"/>
                </a:solidFill>
              </a:defRPr>
            </a:pPr>
            <a:r>
              <a:t>• Шаги, тренировки, уведомления и даже оплата покупок — всё на запястье.</a:t>
            </a:r>
          </a:p>
          <a:p>
            <a:pPr>
              <a:spcAft>
                <a:spcPts val="1500"/>
              </a:spcAft>
              <a:defRPr sz="1900">
                <a:solidFill>
                  <a:srgbClr val="161E2C"/>
                </a:solidFill>
              </a:defRPr>
            </a:pPr>
            <a:r>
              <a:t>• Это пример того, как технологии становятся частью одежды и повседневной жизни.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426464" y="1600200"/>
            <a:ext cx="621792" cy="3657600"/>
          </a:xfrm>
          <a:prstGeom prst="roundRect">
            <a:avLst/>
          </a:prstGeom>
          <a:solidFill>
            <a:srgbClr val="5C697B"/>
          </a:solidFill>
          <a:ln>
            <a:solidFill>
              <a:srgbClr val="5C6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22960" y="2386584"/>
            <a:ext cx="1828800" cy="1828800"/>
          </a:xfrm>
          <a:prstGeom prst="ellipse">
            <a:avLst/>
          </a:prstGeom>
          <a:solidFill>
            <a:srgbClr val="161E2C"/>
          </a:solidFill>
          <a:ln>
            <a:solidFill>
              <a:srgbClr val="161E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05840" y="2569464"/>
            <a:ext cx="1463040" cy="1463040"/>
          </a:xfrm>
          <a:prstGeom prst="ellipse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01752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3460D2"/>
                </a:solidFill>
              </a:defRPr>
            </a:pPr>
            <a:r>
              <a:t>09:41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320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5C697B"/>
                </a:solidFill>
              </a:defRPr>
            </a:pPr>
            <a:r>
              <a:t>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069080" y="5074920"/>
            <a:ext cx="690372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3460D2"/>
                </a:solidFill>
              </a:defRPr>
            </a:pPr>
            <a:r>
              <a:t>ПОЧЕМУ ИХ НАЗЫВАЮТ УМНЫМИ?</a:t>
            </a:r>
          </a:p>
          <a:p>
            <a:pPr>
              <a:spcBef>
                <a:spcPts val="200"/>
              </a:spcBef>
              <a:defRPr sz="1200">
                <a:solidFill>
                  <a:srgbClr val="161E2C"/>
                </a:solidFill>
              </a:defRPr>
            </a:pPr>
            <a:r>
              <a:t>Часы используют датчики и программное обеспечение, чтобы автоматически собирать данные об активности и показывать их пользователю.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900" b="1">
                <a:solidFill>
                  <a:srgbClr val="161E2C"/>
                </a:solidFill>
              </a:defRPr>
            </a:pPr>
            <a:r>
              <a:t>Беспроводные наушники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87552"/>
            <a:ext cx="10332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0">
                <a:solidFill>
                  <a:srgbClr val="5C697B"/>
                </a:solidFill>
              </a:defRPr>
            </a:pPr>
            <a:r>
              <a:t>Маленькие устройства, которые делают звук мобильным.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554480"/>
            <a:ext cx="65836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900">
                <a:solidFill>
                  <a:srgbClr val="161E2C"/>
                </a:solidFill>
              </a:defRPr>
            </a:pPr>
            <a:r>
              <a:t>• Музыка, подкасты и звонки — без проводов.</a:t>
            </a:r>
          </a:p>
          <a:p>
            <a:pPr>
              <a:spcAft>
                <a:spcPts val="1500"/>
              </a:spcAft>
              <a:defRPr sz="1900">
                <a:solidFill>
                  <a:srgbClr val="161E2C"/>
                </a:solidFill>
              </a:defRPr>
            </a:pPr>
            <a:r>
              <a:t>• Шумоподавление помогает сосредоточиться в транспорте или шумном месте.</a:t>
            </a:r>
          </a:p>
          <a:p>
            <a:pPr>
              <a:spcAft>
                <a:spcPts val="1500"/>
              </a:spcAft>
              <a:defRPr sz="1900">
                <a:solidFill>
                  <a:srgbClr val="161E2C"/>
                </a:solidFill>
              </a:defRPr>
            </a:pPr>
            <a:r>
              <a:t>• А новые функции делают наушники всё «умнее»: от голосовых помощников до перевода речи.</a:t>
            </a:r>
          </a:p>
        </p:txBody>
      </p:sp>
      <p:sp>
        <p:nvSpPr>
          <p:cNvPr id="5" name="Oval 4"/>
          <p:cNvSpPr/>
          <p:nvPr/>
        </p:nvSpPr>
        <p:spPr>
          <a:xfrm>
            <a:off x="8366760" y="2098548"/>
            <a:ext cx="824788" cy="1056132"/>
          </a:xfrm>
          <a:prstGeom prst="ellipse">
            <a:avLst/>
          </a:prstGeom>
          <a:solidFill>
            <a:srgbClr val="161E2C"/>
          </a:solidFill>
          <a:ln>
            <a:solidFill>
              <a:srgbClr val="161E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668512" y="2903220"/>
            <a:ext cx="221284" cy="955547"/>
          </a:xfrm>
          <a:prstGeom prst="roundRect">
            <a:avLst/>
          </a:prstGeom>
          <a:solidFill>
            <a:srgbClr val="161E2C"/>
          </a:solidFill>
          <a:ln>
            <a:solidFill>
              <a:srgbClr val="161E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372600" y="2098548"/>
            <a:ext cx="824788" cy="1056132"/>
          </a:xfrm>
          <a:prstGeom prst="ellipse">
            <a:avLst/>
          </a:prstGeom>
          <a:solidFill>
            <a:srgbClr val="161E2C"/>
          </a:solidFill>
          <a:ln>
            <a:solidFill>
              <a:srgbClr val="161E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674352" y="2903220"/>
            <a:ext cx="221284" cy="955547"/>
          </a:xfrm>
          <a:prstGeom prst="roundRect">
            <a:avLst/>
          </a:prstGeom>
          <a:solidFill>
            <a:srgbClr val="161E2C"/>
          </a:solidFill>
          <a:ln>
            <a:solidFill>
              <a:srgbClr val="161E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567928" y="3808476"/>
            <a:ext cx="1659636" cy="905256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090964" y="4009644"/>
            <a:ext cx="553212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8452DC"/>
                </a:solidFill>
              </a:defRPr>
            </a:pPr>
            <a:r>
              <a:t>♫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92840" y="6428232"/>
            <a:ext cx="320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5C697B"/>
                </a:solidFill>
              </a:defRPr>
            </a:pPr>
            <a:r>
              <a:t>6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46520" y="5074920"/>
            <a:ext cx="480060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3460D2"/>
                </a:solidFill>
              </a:defRPr>
            </a:pPr>
            <a:r>
              <a:t>ЧТО ДАЛЬШЕ?</a:t>
            </a:r>
          </a:p>
          <a:p>
            <a:pPr>
              <a:spcBef>
                <a:spcPts val="200"/>
              </a:spcBef>
              <a:defRPr sz="1200">
                <a:solidFill>
                  <a:srgbClr val="161E2C"/>
                </a:solidFill>
              </a:defRPr>
            </a:pPr>
            <a:r>
              <a:t>Наушники постепенно превращаются из простого аудиоаксессуара в небольшой интеллектуальный помощник.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900" b="1">
                <a:solidFill>
                  <a:srgbClr val="161E2C"/>
                </a:solidFill>
              </a:defRPr>
            </a:pPr>
            <a:r>
              <a:t>Умный дом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87552"/>
            <a:ext cx="10332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0">
                <a:solidFill>
                  <a:srgbClr val="5C697B"/>
                </a:solidFill>
              </a:defRPr>
            </a:pPr>
            <a:r>
              <a:t>А что, если дом тоже может выполнять команды?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60520" y="1554480"/>
            <a:ext cx="7132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900">
                <a:solidFill>
                  <a:srgbClr val="161E2C"/>
                </a:solidFill>
              </a:defRPr>
            </a:pPr>
            <a:r>
              <a:t>• Лампами можно управлять со смартфона или голосом.</a:t>
            </a:r>
          </a:p>
          <a:p>
            <a:pPr>
              <a:spcAft>
                <a:spcPts val="1500"/>
              </a:spcAft>
              <a:defRPr sz="1900">
                <a:solidFill>
                  <a:srgbClr val="161E2C"/>
                </a:solidFill>
              </a:defRPr>
            </a:pPr>
            <a:r>
              <a:t>• Робот-пылесос способен сам начать уборку и вернуться на зарядку.</a:t>
            </a:r>
          </a:p>
          <a:p>
            <a:pPr>
              <a:spcAft>
                <a:spcPts val="1500"/>
              </a:spcAft>
              <a:defRPr sz="1900">
                <a:solidFill>
                  <a:srgbClr val="161E2C"/>
                </a:solidFill>
              </a:defRPr>
            </a:pPr>
            <a:r>
              <a:t>• Камеры и датчики помогают следить за домом, даже когда нас нет рядом.</a:t>
            </a:r>
          </a:p>
        </p:txBody>
      </p:sp>
      <p:sp>
        <p:nvSpPr>
          <p:cNvPr id="5" name="Oval 4"/>
          <p:cNvSpPr/>
          <p:nvPr/>
        </p:nvSpPr>
        <p:spPr>
          <a:xfrm>
            <a:off x="822960" y="1737360"/>
            <a:ext cx="1828800" cy="1828800"/>
          </a:xfrm>
          <a:prstGeom prst="ellipse">
            <a:avLst/>
          </a:prstGeom>
          <a:solidFill>
            <a:srgbClr val="5C697B"/>
          </a:solidFill>
          <a:ln>
            <a:solidFill>
              <a:srgbClr val="5C6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89888" y="2304288"/>
            <a:ext cx="694944" cy="694944"/>
          </a:xfrm>
          <a:prstGeom prst="ellipse">
            <a:avLst/>
          </a:prstGeom>
          <a:solidFill>
            <a:srgbClr val="3460D2"/>
          </a:solidFill>
          <a:ln>
            <a:solidFill>
              <a:srgbClr val="346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63040" y="2505456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AI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77440" y="1965960"/>
            <a:ext cx="128016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97479" y="2130552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0">
                <a:solidFill>
                  <a:srgbClr val="EF7D2A"/>
                </a:solidFill>
              </a:defRPr>
            </a:pPr>
            <a:r>
              <a:t>💡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286000" y="3154680"/>
            <a:ext cx="155448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14600" y="342900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3460D2"/>
                </a:solidFill>
              </a:defRPr>
            </a:pPr>
            <a:r>
              <a:t>ROBOT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92840" y="6428232"/>
            <a:ext cx="320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5C697B"/>
                </a:solidFill>
              </a:defRPr>
            </a:pPr>
            <a:r>
              <a:t>7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069080" y="5074920"/>
            <a:ext cx="690372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3460D2"/>
                </a:solidFill>
              </a:defRPr>
            </a:pPr>
            <a:r>
              <a:t>ПРИМЕР СЦЕНАРИЯ</a:t>
            </a:r>
          </a:p>
          <a:p>
            <a:pPr>
              <a:spcBef>
                <a:spcPts val="200"/>
              </a:spcBef>
              <a:defRPr sz="1200">
                <a:solidFill>
                  <a:srgbClr val="161E2C"/>
                </a:solidFill>
              </a:defRPr>
            </a:pPr>
            <a:r>
              <a:t>Можно настроить автоматизацию: вечером свет становится мягче, робот начинает уборку, а колонка включает музыку.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900" b="1">
                <a:solidFill>
                  <a:srgbClr val="161E2C"/>
                </a:solidFill>
              </a:defRPr>
            </a:pPr>
            <a:r>
              <a:t>Игровые гаджеты и VR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87552"/>
            <a:ext cx="10332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0">
                <a:solidFill>
                  <a:srgbClr val="5C697B"/>
                </a:solidFill>
              </a:defRPr>
            </a:pPr>
            <a:r>
              <a:t>Из игры — прямо в виртуальный мир.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554480"/>
            <a:ext cx="65836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900">
                <a:solidFill>
                  <a:srgbClr val="161E2C"/>
                </a:solidFill>
              </a:defRPr>
            </a:pPr>
            <a:r>
              <a:t>• Консоли и портативные приставки превращают свободное время в интерактивное приключение.</a:t>
            </a:r>
          </a:p>
          <a:p>
            <a:pPr>
              <a:spcAft>
                <a:spcPts val="1500"/>
              </a:spcAft>
              <a:defRPr sz="1900">
                <a:solidFill>
                  <a:srgbClr val="161E2C"/>
                </a:solidFill>
              </a:defRPr>
            </a:pPr>
            <a:r>
              <a:t>• Гарнитуры позволяют общаться с другими игроками.</a:t>
            </a:r>
          </a:p>
          <a:p>
            <a:pPr>
              <a:spcAft>
                <a:spcPts val="1500"/>
              </a:spcAft>
              <a:defRPr sz="1900">
                <a:solidFill>
                  <a:srgbClr val="161E2C"/>
                </a:solidFill>
              </a:defRPr>
            </a:pPr>
            <a:r>
              <a:t>• А VR-шлем создаёт ощущение, будто ты действительно находишься внутри игры.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366760" y="2057400"/>
            <a:ext cx="2779776" cy="1433322"/>
          </a:xfrm>
          <a:prstGeom prst="roundRect">
            <a:avLst/>
          </a:prstGeom>
          <a:solidFill>
            <a:srgbClr val="161E2C"/>
          </a:solidFill>
          <a:ln>
            <a:solidFill>
              <a:srgbClr val="161E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57666" y="2448306"/>
            <a:ext cx="347472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90988" y="2578608"/>
            <a:ext cx="608075" cy="30403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27AEDC"/>
                </a:solidFill>
              </a:defRPr>
            </a:pPr>
            <a:r>
              <a:t>●  ●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281160" y="3886200"/>
            <a:ext cx="1828800" cy="1143000"/>
          </a:xfrm>
          <a:prstGeom prst="roundRect">
            <a:avLst/>
          </a:prstGeom>
          <a:solidFill>
            <a:srgbClr val="161E2C"/>
          </a:solidFill>
          <a:ln>
            <a:solidFill>
              <a:srgbClr val="161E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20072" y="4224528"/>
            <a:ext cx="868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FFFFFF"/>
                </a:solidFill>
              </a:defRPr>
            </a:pPr>
            <a:r>
              <a:t>VR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92840" y="6428232"/>
            <a:ext cx="320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5C697B"/>
                </a:solidFill>
              </a:defRPr>
            </a:pPr>
            <a:r>
              <a:t>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46520" y="5074920"/>
            <a:ext cx="480060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3460D2"/>
                </a:solidFill>
              </a:defRPr>
            </a:pPr>
            <a:r>
              <a:t>ПОЧЕМУ VR ИНТЕРЕСЕН?</a:t>
            </a:r>
          </a:p>
          <a:p>
            <a:pPr>
              <a:spcBef>
                <a:spcPts val="200"/>
              </a:spcBef>
              <a:defRPr sz="1200">
                <a:solidFill>
                  <a:srgbClr val="161E2C"/>
                </a:solidFill>
              </a:defRPr>
            </a:pPr>
            <a:r>
              <a:t>VR позволяет не просто смотреть на экран, а взаимодействовать с цифровой сценой и ощущать присутствие внутри неё.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900" b="1">
                <a:solidFill>
                  <a:srgbClr val="161E2C"/>
                </a:solidFill>
              </a:defRPr>
            </a:pPr>
            <a:r>
              <a:t>Гаджеты: помощники или отвлекающие факторы?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87552"/>
            <a:ext cx="10332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0">
                <a:solidFill>
                  <a:srgbClr val="5C697B"/>
                </a:solidFill>
              </a:defRPr>
            </a:pPr>
            <a:r>
              <a:t>Технологии дают возможности — вопрос в том, как мы ими пользуемся.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60520" y="1554480"/>
            <a:ext cx="7132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900">
                <a:solidFill>
                  <a:srgbClr val="161E2C"/>
                </a:solidFill>
              </a:defRPr>
            </a:pPr>
            <a:r>
              <a:t>• Плюсы: быстро общаться, находить информацию, учиться и экономить время.</a:t>
            </a:r>
          </a:p>
          <a:p>
            <a:pPr>
              <a:spcAft>
                <a:spcPts val="1500"/>
              </a:spcAft>
              <a:defRPr sz="1900">
                <a:solidFill>
                  <a:srgbClr val="161E2C"/>
                </a:solidFill>
              </a:defRPr>
            </a:pPr>
            <a:r>
              <a:t>• Минусы: уведомления могут отвлекать, а экран легко забирает больше времени, чем планировалось.</a:t>
            </a:r>
          </a:p>
          <a:p>
            <a:pPr>
              <a:spcAft>
                <a:spcPts val="1500"/>
              </a:spcAft>
              <a:defRPr sz="1900">
                <a:solidFill>
                  <a:srgbClr val="161E2C"/>
                </a:solidFill>
              </a:defRPr>
            </a:pPr>
            <a:r>
              <a:t>• Поэтому хороший гаджет — тот, который помогает нам, а не управляет нашим вниманием.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28800"/>
            <a:ext cx="1382572" cy="2501798"/>
          </a:xfrm>
          <a:prstGeom prst="roundRect">
            <a:avLst/>
          </a:prstGeom>
          <a:solidFill>
            <a:srgbClr val="161E2C"/>
          </a:solidFill>
          <a:ln>
            <a:solidFill>
              <a:srgbClr val="161E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28298" y="2039477"/>
            <a:ext cx="1171895" cy="1975104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3139" y="2651760"/>
            <a:ext cx="888796" cy="26334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3460D2"/>
                </a:solidFill>
              </a:defRPr>
            </a:pPr>
            <a:r>
              <a:t>14:02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6307" y="3507638"/>
            <a:ext cx="855878" cy="1975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5C697B"/>
                </a:solidFill>
              </a:defRPr>
            </a:pPr>
            <a:r>
              <a:t>●  ●  ●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361712" y="2103120"/>
            <a:ext cx="360639" cy="2121408"/>
          </a:xfrm>
          <a:prstGeom prst="roundRect">
            <a:avLst/>
          </a:prstGeom>
          <a:solidFill>
            <a:srgbClr val="5C697B"/>
          </a:solidFill>
          <a:ln>
            <a:solidFill>
              <a:srgbClr val="5C6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011680" y="2559222"/>
            <a:ext cx="1060704" cy="1060704"/>
          </a:xfrm>
          <a:prstGeom prst="ellipse">
            <a:avLst/>
          </a:prstGeom>
          <a:solidFill>
            <a:srgbClr val="161E2C"/>
          </a:solidFill>
          <a:ln>
            <a:solidFill>
              <a:srgbClr val="161E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117750" y="2665293"/>
            <a:ext cx="848563" cy="848563"/>
          </a:xfrm>
          <a:prstGeom prst="ellipse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97303" y="2925165"/>
            <a:ext cx="689457" cy="18562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3460D2"/>
                </a:solidFill>
              </a:defRPr>
            </a:pPr>
            <a:r>
              <a:t>09:41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92840" y="6428232"/>
            <a:ext cx="320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5C697B"/>
                </a:solidFill>
              </a:defRPr>
            </a:pPr>
            <a:r>
              <a:t>9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069080" y="5074920"/>
            <a:ext cx="690372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3460D2"/>
                </a:solidFill>
              </a:defRPr>
            </a:pPr>
            <a:r>
              <a:t>ГЛАВНЫЙ ВОПРОС</a:t>
            </a:r>
          </a:p>
          <a:p>
            <a:pPr>
              <a:spcBef>
                <a:spcPts val="200"/>
              </a:spcBef>
              <a:defRPr sz="1200">
                <a:solidFill>
                  <a:srgbClr val="161E2C"/>
                </a:solidFill>
              </a:defRPr>
            </a:pPr>
            <a:r>
              <a:t>Не «хороши или плохи гаджеты», а «помогают ли они именно мне?» — полезность зависит от цели и привычек пользователя.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900" b="1">
                <a:solidFill>
                  <a:srgbClr val="161E2C"/>
                </a:solidFill>
              </a:defRPr>
            </a:pPr>
            <a:r>
              <a:t>Что будет дальше?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87552"/>
            <a:ext cx="10332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0">
                <a:solidFill>
                  <a:srgbClr val="5C697B"/>
                </a:solidFill>
              </a:defRPr>
            </a:pPr>
            <a:r>
              <a:t>Гаджеты становятся не просто умными — они начинают понимать контекст.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554480"/>
            <a:ext cx="65836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900">
                <a:solidFill>
                  <a:srgbClr val="161E2C"/>
                </a:solidFill>
              </a:defRPr>
            </a:pPr>
            <a:r>
              <a:t>• Искусственный интеллект всё чаще появляется прямо в устройствах.</a:t>
            </a:r>
          </a:p>
          <a:p>
            <a:pPr>
              <a:spcAft>
                <a:spcPts val="1500"/>
              </a:spcAft>
              <a:defRPr sz="1900">
                <a:solidFill>
                  <a:srgbClr val="161E2C"/>
                </a:solidFill>
              </a:defRPr>
            </a:pPr>
            <a:r>
              <a:t>• Развиваются умные очки, VR и AR, а разные устройства всё теснее соединяются.</a:t>
            </a:r>
          </a:p>
          <a:p>
            <a:pPr>
              <a:spcAft>
                <a:spcPts val="1500"/>
              </a:spcAft>
              <a:defRPr sz="1900">
                <a:solidFill>
                  <a:srgbClr val="161E2C"/>
                </a:solidFill>
              </a:defRPr>
            </a:pPr>
            <a:r>
              <a:t>• Возможно, скоро мы будем меньше думать о самих гаджетах — они просто будут незаметно помогать нам.</a:t>
            </a:r>
          </a:p>
          <a:p>
            <a:pPr>
              <a:spcAft>
                <a:spcPts val="1500"/>
              </a:spcAft>
              <a:defRPr sz="1900">
                <a:solidFill>
                  <a:srgbClr val="161E2C"/>
                </a:solidFill>
              </a:defRPr>
            </a:pPr>
            <a:r>
              <a:t>• Главное — использовать технологии с пользой и не забывать, что решение всегда остаётся за человеком.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366760" y="1828800"/>
            <a:ext cx="1382572" cy="2501798"/>
          </a:xfrm>
          <a:prstGeom prst="roundRect">
            <a:avLst/>
          </a:prstGeom>
          <a:solidFill>
            <a:srgbClr val="161E2C"/>
          </a:solidFill>
          <a:ln>
            <a:solidFill>
              <a:srgbClr val="161E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472098" y="2039477"/>
            <a:ext cx="1171895" cy="1975104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16939" y="2651760"/>
            <a:ext cx="888796" cy="26334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3460D2"/>
                </a:solidFill>
              </a:defRPr>
            </a:pPr>
            <a:r>
              <a:t>14:02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30107" y="3507638"/>
            <a:ext cx="855878" cy="1975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5C697B"/>
                </a:solidFill>
              </a:defRPr>
            </a:pPr>
            <a:r>
              <a:t>●  ●  ●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905512" y="2103120"/>
            <a:ext cx="360639" cy="2121408"/>
          </a:xfrm>
          <a:prstGeom prst="roundRect">
            <a:avLst/>
          </a:prstGeom>
          <a:solidFill>
            <a:srgbClr val="5C697B"/>
          </a:solidFill>
          <a:ln>
            <a:solidFill>
              <a:srgbClr val="5C6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555480" y="2559222"/>
            <a:ext cx="1060704" cy="1060704"/>
          </a:xfrm>
          <a:prstGeom prst="ellipse">
            <a:avLst/>
          </a:prstGeom>
          <a:solidFill>
            <a:srgbClr val="161E2C"/>
          </a:solidFill>
          <a:ln>
            <a:solidFill>
              <a:srgbClr val="161E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661550" y="2665293"/>
            <a:ext cx="848563" cy="848563"/>
          </a:xfrm>
          <a:prstGeom prst="ellipse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41103" y="2925165"/>
            <a:ext cx="689457" cy="18562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3460D2"/>
                </a:solidFill>
              </a:defRPr>
            </a:pPr>
            <a:r>
              <a:t>09:41</a:t>
            </a:r>
          </a:p>
        </p:txBody>
      </p:sp>
      <p:sp>
        <p:nvSpPr>
          <p:cNvPr id="13" name="Oval 12"/>
          <p:cNvSpPr/>
          <p:nvPr/>
        </p:nvSpPr>
        <p:spPr>
          <a:xfrm>
            <a:off x="10195560" y="3925062"/>
            <a:ext cx="487375" cy="624078"/>
          </a:xfrm>
          <a:prstGeom prst="ellipse">
            <a:avLst/>
          </a:prstGeom>
          <a:solidFill>
            <a:srgbClr val="161E2C"/>
          </a:solidFill>
          <a:ln>
            <a:solidFill>
              <a:srgbClr val="161E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0373868" y="4400550"/>
            <a:ext cx="130759" cy="564642"/>
          </a:xfrm>
          <a:prstGeom prst="roundRect">
            <a:avLst/>
          </a:prstGeom>
          <a:solidFill>
            <a:srgbClr val="161E2C"/>
          </a:solidFill>
          <a:ln>
            <a:solidFill>
              <a:srgbClr val="161E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789920" y="3925062"/>
            <a:ext cx="487375" cy="624078"/>
          </a:xfrm>
          <a:prstGeom prst="ellipse">
            <a:avLst/>
          </a:prstGeom>
          <a:solidFill>
            <a:srgbClr val="161E2C"/>
          </a:solidFill>
          <a:ln>
            <a:solidFill>
              <a:srgbClr val="161E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0968228" y="4400550"/>
            <a:ext cx="130759" cy="564642"/>
          </a:xfrm>
          <a:prstGeom prst="roundRect">
            <a:avLst/>
          </a:prstGeom>
          <a:solidFill>
            <a:srgbClr val="161E2C"/>
          </a:solidFill>
          <a:ln>
            <a:solidFill>
              <a:srgbClr val="161E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0314432" y="4935474"/>
            <a:ext cx="980694" cy="534924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623499" y="5054346"/>
            <a:ext cx="326898" cy="1783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8452DC"/>
                </a:solidFill>
              </a:defRPr>
            </a:pPr>
            <a:r>
              <a:t>♫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32520" y="516636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8452DC"/>
                </a:solidFill>
              </a:defRPr>
            </a:pPr>
            <a:r>
              <a:t>AI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92840" y="6428232"/>
            <a:ext cx="320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5C697B"/>
                </a:solidFill>
              </a:defRPr>
            </a:pPr>
            <a:r>
              <a:t>10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46520" y="5074920"/>
            <a:ext cx="480060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3460D2"/>
                </a:solidFill>
              </a:defRPr>
            </a:pPr>
            <a:r>
              <a:t>ГЛАВНАЯ ТЕНДЕНЦИЯ</a:t>
            </a:r>
          </a:p>
          <a:p>
            <a:pPr>
              <a:spcBef>
                <a:spcPts val="200"/>
              </a:spcBef>
              <a:defRPr sz="1200">
                <a:solidFill>
                  <a:srgbClr val="161E2C"/>
                </a:solidFill>
              </a:defRPr>
            </a:pPr>
            <a:r>
              <a:t>Гаджеты постепенно становятся частью единой системы: смартфон, часы, наушники и домашние устройства могут обмениваться данными.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6080760"/>
            <a:ext cx="6766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5C697B"/>
                </a:solidFill>
              </a:defRPr>
            </a:pPr>
            <a:r>
              <a:t>Технологии меняются быстро — важно понимать их возможности и использовать их осознанно.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