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7589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500" b="1">
                <a:solidFill>
                  <a:srgbClr val="161E2C"/>
                </a:solidFill>
              </a:defRPr>
            </a:pPr>
            <a:r>
              <a:t>Современные гаджеты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61872"/>
            <a:ext cx="74980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5C697B"/>
                </a:solidFill>
              </a:defRPr>
            </a:pPr>
            <a:r>
              <a:t>Что изменилось в нашей жизни благодаря технологиям?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040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161E2C"/>
                </a:solidFill>
              </a:defRPr>
            </a:pPr>
            <a:r>
              <a:t>Телефон в кармане, часы на руке, наушники в ушах — гаджеты окружают нас каждый день.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1828800"/>
            <a:ext cx="1382572" cy="2501798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2098" y="2039477"/>
            <a:ext cx="1171895" cy="197510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6939" y="2651760"/>
            <a:ext cx="888796" cy="2633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460D2"/>
                </a:solidFill>
              </a:defRPr>
            </a:pPr>
            <a:r>
              <a:t>14:02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0107" y="3507638"/>
            <a:ext cx="855878" cy="1975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C697B"/>
                </a:solidFill>
              </a:defRPr>
            </a:pPr>
            <a:r>
              <a:t>●  ●  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5512" y="2103120"/>
            <a:ext cx="360639" cy="2121408"/>
          </a:xfrm>
          <a:prstGeom prst="roundRect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5480" y="2559222"/>
            <a:ext cx="1060704" cy="1060704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61550" y="2665293"/>
            <a:ext cx="848563" cy="84856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41103" y="2925165"/>
            <a:ext cx="689457" cy="185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0D2"/>
                </a:solidFill>
              </a:defRPr>
            </a:pPr>
            <a:r>
              <a:t>09:41</a:t>
            </a:r>
          </a:p>
        </p:txBody>
      </p:sp>
      <p:sp>
        <p:nvSpPr>
          <p:cNvPr id="13" name="Oval 12"/>
          <p:cNvSpPr/>
          <p:nvPr/>
        </p:nvSpPr>
        <p:spPr>
          <a:xfrm>
            <a:off x="10195560" y="3925062"/>
            <a:ext cx="487375" cy="624078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73868" y="4400550"/>
            <a:ext cx="130759" cy="564642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3925062"/>
            <a:ext cx="487375" cy="624078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68228" y="4400550"/>
            <a:ext cx="130759" cy="564642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4432" y="4935474"/>
            <a:ext cx="980694" cy="534924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23499" y="5054346"/>
            <a:ext cx="326898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452DC"/>
                </a:solidFill>
              </a:defRPr>
            </a:pPr>
            <a:r>
              <a:t>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5166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452DC"/>
                </a:solidFill>
              </a:defRPr>
            </a:pPr>
            <a: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8076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C697B"/>
                </a:solidFill>
              </a:defRPr>
            </a:pPr>
            <a:r>
              <a:t>Посмотрим, какие гаджеты уже стали частью нашей повседневности.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Гаджеты вокруг нас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Небольшие устройства — большие возможности.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Гаджеты помогают нам быть на связи, получать информацию и решать бытовые задачи.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Их главная особенность — много функций в компактном устройстве.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Сегодня многие гаджеты умеют «общаться» друг с другом через интернет.</a:t>
            </a:r>
          </a:p>
        </p:txBody>
      </p:sp>
      <p:sp>
        <p:nvSpPr>
          <p:cNvPr id="5" name="Oval 4"/>
          <p:cNvSpPr/>
          <p:nvPr/>
        </p:nvSpPr>
        <p:spPr>
          <a:xfrm>
            <a:off x="8366760" y="1737360"/>
            <a:ext cx="1828800" cy="1828800"/>
          </a:xfrm>
          <a:prstGeom prst="ellipse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33688" y="2304288"/>
            <a:ext cx="694944" cy="694944"/>
          </a:xfrm>
          <a:prstGeom prst="ellipse">
            <a:avLst/>
          </a:prstGeom>
          <a:solidFill>
            <a:srgbClr val="3460D2"/>
          </a:solidFill>
          <a:ln>
            <a:solidFill>
              <a:srgbClr val="346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250545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1965960"/>
            <a:ext cx="1280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0" y="21305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EF7D2A"/>
                </a:solidFill>
              </a:defRPr>
            </a:pPr>
            <a:r>
              <a:t>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3154680"/>
            <a:ext cx="1554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34290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460D2"/>
                </a:solidFill>
              </a:defRPr>
            </a:pPr>
            <a:r>
              <a:t>ROBOT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507492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ИНТЕРЕСНЫЙ ФАКТ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Современный гаджет часто объединяет функции нескольких старых устройств: камеры, калькулятора, плеера, навигатора и диктофона.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Смартфон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Устройство, без которого многие уже не представляют свой день.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554480"/>
            <a:ext cx="7132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Позвонить? Да. Сделать фото? Конечно.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Найти дорогу, оплатить покупку, учиться, работать или посмотреть фильм — всё это тоже смартфон.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По сути, в кармане у нас маленький универсальный компьютер.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016252" cy="3648456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6579" y="1953158"/>
            <a:ext cx="1709013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7805" y="2846070"/>
            <a:ext cx="129616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460D2"/>
                </a:solidFill>
              </a:defRPr>
            </a:pPr>
            <a:r>
              <a:t>14:02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4094226"/>
            <a:ext cx="1248156" cy="2880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C697B"/>
                </a:solidFill>
              </a:defRPr>
            </a:pPr>
            <a:r>
              <a:t>●  ●  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5074920"/>
            <a:ext cx="6903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ПОЧЕМУ СМАРТФОН ТАК ВАЖЕН?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Он всегда рядом и умеет быстро получать данные из интернета. Поэтому смартфон стал главным инструментом для связи и повседневных задач.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Ноутбук и планшет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Когда экран становится рабочим инструментом.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Ноутбук удобен для учёбы, программирования, документов и творчества.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Планшет легче: читать, рисовать или смотреть видео можно практически где угодно.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А с клавиатурой и стилусом граница между устройствами становится всё меньше.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1828800"/>
            <a:ext cx="3044952" cy="1933956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14892" y="1976932"/>
            <a:ext cx="2748686" cy="152247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01684" y="2421331"/>
            <a:ext cx="18105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8452DC"/>
                </a:solidFill>
              </a:defRPr>
            </a:pPr>
            <a:r>
              <a:t>CREATIVE</a:t>
            </a:r>
          </a:p>
        </p:txBody>
      </p:sp>
      <p:sp>
        <p:nvSpPr>
          <p:cNvPr id="8" name="Trapezoid 7"/>
          <p:cNvSpPr/>
          <p:nvPr/>
        </p:nvSpPr>
        <p:spPr>
          <a:xfrm>
            <a:off x="8161020" y="3680460"/>
            <a:ext cx="3456432" cy="312724"/>
          </a:xfrm>
          <a:prstGeom prst="trapezoid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507492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ЧТО ВЫБРАТЬ?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Ноутбук обычно удобнее для длительной работы, а планшет — для мобильности. Выбор зависит от задачи, а не только от размера экрана.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Умные часы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Смартфон можно оставить в кармане — часы покажут главное.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554480"/>
            <a:ext cx="7132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На экране появляются сообщения и звонки, а датчики помогают отслеживать активность.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Шаги, тренировки, уведомления и даже оплата покупок — всё на запястье.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Это пример того, как технологии становятся частью одежды и повседневной жизни.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26464" y="1600200"/>
            <a:ext cx="621792" cy="3657600"/>
          </a:xfrm>
          <a:prstGeom prst="roundRect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386584"/>
            <a:ext cx="1828800" cy="1828800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569464"/>
            <a:ext cx="1463040" cy="146304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17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0D2"/>
                </a:solidFill>
              </a:defRPr>
            </a:pPr>
            <a:r>
              <a:t>09:41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5074920"/>
            <a:ext cx="6903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ПОЧЕМУ ИХ НАЗЫВАЮТ УМНЫМИ?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Часы используют датчики и программное обеспечение, чтобы автоматически собирать данные об активности и показывать их пользователю.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Wireless Earbuds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Маленькие устройства, которые делают звук мобильным.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Музыка, подкасты и звонки — без проводов.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Шумоподавление помогает сосредоточиться в транспорте или шумном месте.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А новые функции делают наушники всё «умнее»: от голосовых помощников до перевода речи.</a:t>
            </a:r>
          </a:p>
        </p:txBody>
      </p:sp>
      <p:sp>
        <p:nvSpPr>
          <p:cNvPr id="5" name="Oval 4"/>
          <p:cNvSpPr/>
          <p:nvPr/>
        </p:nvSpPr>
        <p:spPr>
          <a:xfrm>
            <a:off x="8366760" y="2098548"/>
            <a:ext cx="824788" cy="1056132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68512" y="2903220"/>
            <a:ext cx="221284" cy="955547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2098548"/>
            <a:ext cx="824788" cy="1056132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74352" y="2903220"/>
            <a:ext cx="221284" cy="955547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67928" y="3808476"/>
            <a:ext cx="1659636" cy="905256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0964" y="4009644"/>
            <a:ext cx="55321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452DC"/>
                </a:solidFill>
              </a:defRPr>
            </a:pPr>
            <a:r>
              <a:t>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507492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ЧТО ДАЛЬШЕ?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Наушники постепенно превращаются из простого аудиоаксессуара в небольшой интеллектуальный помощник.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Smart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А что, если дом тоже может выполнять команды?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554480"/>
            <a:ext cx="7132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Лампами можно управлять со смартфона или голосом.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Робот-пылесос способен сам начать уборку и вернуться на зарядку.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Камеры и датчики помогают следить за домом, даже когда нас нет рядом.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37360"/>
            <a:ext cx="1828800" cy="1828800"/>
          </a:xfrm>
          <a:prstGeom prst="ellipse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89888" y="2304288"/>
            <a:ext cx="694944" cy="694944"/>
          </a:xfrm>
          <a:prstGeom prst="ellipse">
            <a:avLst/>
          </a:prstGeom>
          <a:solidFill>
            <a:srgbClr val="3460D2"/>
          </a:solidFill>
          <a:ln>
            <a:solidFill>
              <a:srgbClr val="346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505456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965960"/>
            <a:ext cx="12801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79" y="21305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EF7D2A"/>
                </a:solidFill>
              </a:defRPr>
            </a:pPr>
            <a:r>
              <a:t>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154680"/>
            <a:ext cx="1554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34290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460D2"/>
                </a:solidFill>
              </a:defRPr>
            </a:pPr>
            <a:r>
              <a:t>ROBOT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5074920"/>
            <a:ext cx="6903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ПРИМЕР СЦЕНАРИЯ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Можно настроить автоматизацию: вечером свет становится мягче, робот начинает уборку, а колонка включает музыку.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Gaming Gadgets and VR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Из игры — прямо в виртуальный мир.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Консоли и портативные приставки превращают свободное время в интерактивное приключение.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Гарнитуры позволяют общаться с другими игроками.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А VR-шлем создаёт ощущение, будто ты действительно находишься внутри игры.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2057400"/>
            <a:ext cx="2779776" cy="1433322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57666" y="2448306"/>
            <a:ext cx="3474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0988" y="2578608"/>
            <a:ext cx="608075" cy="3040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7AEDC"/>
                </a:solidFill>
              </a:defRPr>
            </a:pPr>
            <a:r>
              <a:t>●  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3886200"/>
            <a:ext cx="1828800" cy="1143000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20072" y="4224528"/>
            <a:ext cx="868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VR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507492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ПОЧЕМУ VR ИНТЕРЕСЕН?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VR позволяет не просто смотреть на экран, а взаимодействовать с цифровой сценой и ощущать присутствие внутри неё.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Гаджеты: помощники или отвлекающие факторы?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Технологии дают возможности — вопрос в том, как мы ими пользуемся.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554480"/>
            <a:ext cx="7132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Плюсы: быстро общаться, находить информацию, учиться и экономить время.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Минусы: уведомления могут отвлекать, а экран легко забирает больше времени, чем планировалось.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Поэтому хороший гаджет — тот, который помогает нам, а не управляет нашим вниманием.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382572" cy="2501798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8298" y="2039477"/>
            <a:ext cx="1171895" cy="197510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3139" y="2651760"/>
            <a:ext cx="888796" cy="2633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460D2"/>
                </a:solidFill>
              </a:defRPr>
            </a:pPr>
            <a:r>
              <a:t>14:02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307" y="3507638"/>
            <a:ext cx="855878" cy="1975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C697B"/>
                </a:solidFill>
              </a:defRPr>
            </a:pPr>
            <a:r>
              <a:t>●  ●  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61712" y="2103120"/>
            <a:ext cx="360639" cy="2121408"/>
          </a:xfrm>
          <a:prstGeom prst="roundRect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11680" y="2559222"/>
            <a:ext cx="1060704" cy="1060704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17750" y="2665293"/>
            <a:ext cx="848563" cy="84856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7303" y="2925165"/>
            <a:ext cx="689457" cy="185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0D2"/>
                </a:solidFill>
              </a:defRPr>
            </a:pPr>
            <a:r>
              <a:t>09:41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5074920"/>
            <a:ext cx="6903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ГЛАВНЫЙ ВОПРОС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Не «хороши или плохи гаджеты», а «помогают ли они именно мне?» — полезность зависит от цели и привычек пользователя.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61E2C"/>
                </a:solidFill>
              </a:defRPr>
            </a:pPr>
            <a:r>
              <a:t>Что будет дальше?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5C697B"/>
                </a:solidFill>
              </a:defRPr>
            </a:pPr>
            <a:r>
              <a:t>Гаджеты становятся не просто умными — они начинают понимать контекст.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Искусственный интеллект всё чаще появляется прямо в устройствах.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Развиваются умные очки, VR и AR, а разные устройства всё теснее соединяются.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Возможно, скоро мы будем меньше думать о самих гаджетах — они просто будут незаметно помогать нам.</a:t>
            </a:r>
          </a:p>
          <a:p>
            <a:pPr>
              <a:spcAft>
                <a:spcPts val="1500"/>
              </a:spcAft>
              <a:defRPr sz="1900">
                <a:solidFill>
                  <a:srgbClr val="161E2C"/>
                </a:solidFill>
              </a:defRPr>
            </a:pPr>
            <a:r>
              <a:t>• Главное — использовать технологии с пользой и не забывать, что решение всегда остаётся за человеком.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1828800"/>
            <a:ext cx="1382572" cy="2501798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2098" y="2039477"/>
            <a:ext cx="1171895" cy="197510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6939" y="2651760"/>
            <a:ext cx="888796" cy="2633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460D2"/>
                </a:solidFill>
              </a:defRPr>
            </a:pPr>
            <a:r>
              <a:t>14:02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0107" y="3507638"/>
            <a:ext cx="855878" cy="1975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5C697B"/>
                </a:solidFill>
              </a:defRPr>
            </a:pPr>
            <a:r>
              <a:t>●  ●  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5512" y="2103120"/>
            <a:ext cx="360639" cy="2121408"/>
          </a:xfrm>
          <a:prstGeom prst="roundRect">
            <a:avLst/>
          </a:prstGeom>
          <a:solidFill>
            <a:srgbClr val="5C697B"/>
          </a:solidFill>
          <a:ln>
            <a:solidFill>
              <a:srgbClr val="5C6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5480" y="2559222"/>
            <a:ext cx="1060704" cy="1060704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61550" y="2665293"/>
            <a:ext cx="848563" cy="84856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41103" y="2925165"/>
            <a:ext cx="689457" cy="1856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0D2"/>
                </a:solidFill>
              </a:defRPr>
            </a:pPr>
            <a:r>
              <a:t>09:41</a:t>
            </a:r>
          </a:p>
        </p:txBody>
      </p:sp>
      <p:sp>
        <p:nvSpPr>
          <p:cNvPr id="13" name="Oval 12"/>
          <p:cNvSpPr/>
          <p:nvPr/>
        </p:nvSpPr>
        <p:spPr>
          <a:xfrm>
            <a:off x="10195560" y="3925062"/>
            <a:ext cx="487375" cy="624078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73868" y="4400550"/>
            <a:ext cx="130759" cy="564642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3925062"/>
            <a:ext cx="487375" cy="624078"/>
          </a:xfrm>
          <a:prstGeom prst="ellipse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68228" y="4400550"/>
            <a:ext cx="130759" cy="564642"/>
          </a:xfrm>
          <a:prstGeom prst="roundRect">
            <a:avLst/>
          </a:prstGeom>
          <a:solidFill>
            <a:srgbClr val="161E2C"/>
          </a:solidFill>
          <a:ln>
            <a:solidFill>
              <a:srgbClr val="161E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14432" y="4935474"/>
            <a:ext cx="980694" cy="534924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23499" y="5054346"/>
            <a:ext cx="326898" cy="1783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8452DC"/>
                </a:solidFill>
              </a:defRPr>
            </a:pPr>
            <a:r>
              <a:t>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5166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8452DC"/>
                </a:solidFill>
              </a:defRPr>
            </a:pPr>
            <a: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28232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C697B"/>
                </a:solidFill>
              </a:defRPr>
            </a:pPr>
            <a:r>
              <a:t>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5074920"/>
            <a:ext cx="4800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60D2"/>
                </a:solidFill>
              </a:defRPr>
            </a:pPr>
            <a:r>
              <a:t>ГЛАВНАЯ ТЕНДЕНЦИЯ</a:t>
            </a:r>
          </a:p>
          <a:p>
            <a:pPr>
              <a:spcBef>
                <a:spcPts val="200"/>
              </a:spcBef>
              <a:defRPr sz="1200">
                <a:solidFill>
                  <a:srgbClr val="161E2C"/>
                </a:solidFill>
              </a:defRPr>
            </a:pPr>
            <a:r>
              <a:t>Гаджеты постепенно становятся частью единой системы: смартфон, часы, наушники и домашние устройства могут обмениваться данными.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8076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C697B"/>
                </a:solidFill>
              </a:defRPr>
            </a:pPr>
            <a:r>
              <a:t>Технологии меняются быстро — важно понимать их возможности и использовать их осознанно.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