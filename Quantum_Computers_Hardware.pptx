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8" name="Shape 16"/>
          <p:cNvSpPr/>
          <p:nvPr/>
        </p:nvSpPr>
        <p:spPr>
          <a:xfrm>
            <a:off x="178308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9" name="Shape 17"/>
          <p:cNvSpPr/>
          <p:nvPr/>
        </p:nvSpPr>
        <p:spPr>
          <a:xfrm>
            <a:off x="242316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0" name="Shape 18"/>
          <p:cNvSpPr/>
          <p:nvPr/>
        </p:nvSpPr>
        <p:spPr>
          <a:xfrm>
            <a:off x="306324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1" name="Shape 19"/>
          <p:cNvSpPr/>
          <p:nvPr/>
        </p:nvSpPr>
        <p:spPr>
          <a:xfrm>
            <a:off x="370332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0372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7" name="Shape 25"/>
          <p:cNvSpPr/>
          <p:nvPr/>
        </p:nvSpPr>
        <p:spPr>
          <a:xfrm>
            <a:off x="754380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29" name="Shape 27"/>
          <p:cNvSpPr/>
          <p:nvPr/>
        </p:nvSpPr>
        <p:spPr>
          <a:xfrm>
            <a:off x="8823960" y="46634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10312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5" name="Shape 33"/>
          <p:cNvSpPr/>
          <p:nvPr/>
        </p:nvSpPr>
        <p:spPr>
          <a:xfrm>
            <a:off x="338328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6" name="Shape 34"/>
          <p:cNvSpPr/>
          <p:nvPr/>
        </p:nvSpPr>
        <p:spPr>
          <a:xfrm>
            <a:off x="402336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344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8" name="Shape 36"/>
          <p:cNvSpPr/>
          <p:nvPr/>
        </p:nvSpPr>
        <p:spPr>
          <a:xfrm>
            <a:off x="530352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39" name="Shape 37"/>
          <p:cNvSpPr/>
          <p:nvPr/>
        </p:nvSpPr>
        <p:spPr>
          <a:xfrm>
            <a:off x="594360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1" name="Shape 39"/>
          <p:cNvSpPr/>
          <p:nvPr/>
        </p:nvSpPr>
        <p:spPr>
          <a:xfrm>
            <a:off x="722376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2" name="Shape 40"/>
          <p:cNvSpPr/>
          <p:nvPr/>
        </p:nvSpPr>
        <p:spPr>
          <a:xfrm>
            <a:off x="786384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51206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4300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6" name="Shape 44"/>
          <p:cNvSpPr/>
          <p:nvPr/>
        </p:nvSpPr>
        <p:spPr>
          <a:xfrm>
            <a:off x="178308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7" name="Shape 45"/>
          <p:cNvSpPr/>
          <p:nvPr/>
        </p:nvSpPr>
        <p:spPr>
          <a:xfrm>
            <a:off x="242316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8" name="Shape 46"/>
          <p:cNvSpPr/>
          <p:nvPr/>
        </p:nvSpPr>
        <p:spPr>
          <a:xfrm>
            <a:off x="306324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49" name="Shape 47"/>
          <p:cNvSpPr/>
          <p:nvPr/>
        </p:nvSpPr>
        <p:spPr>
          <a:xfrm>
            <a:off x="370332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0" name="Shape 48"/>
          <p:cNvSpPr/>
          <p:nvPr/>
        </p:nvSpPr>
        <p:spPr>
          <a:xfrm>
            <a:off x="434340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1" name="Shape 49"/>
          <p:cNvSpPr/>
          <p:nvPr/>
        </p:nvSpPr>
        <p:spPr>
          <a:xfrm>
            <a:off x="498348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2" name="Shape 50"/>
          <p:cNvSpPr/>
          <p:nvPr/>
        </p:nvSpPr>
        <p:spPr>
          <a:xfrm>
            <a:off x="562356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3" name="Shape 51"/>
          <p:cNvSpPr/>
          <p:nvPr/>
        </p:nvSpPr>
        <p:spPr>
          <a:xfrm>
            <a:off x="626364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4" name="Shape 52"/>
          <p:cNvSpPr/>
          <p:nvPr/>
        </p:nvSpPr>
        <p:spPr>
          <a:xfrm>
            <a:off x="690372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5" name="Shape 53"/>
          <p:cNvSpPr/>
          <p:nvPr/>
        </p:nvSpPr>
        <p:spPr>
          <a:xfrm>
            <a:off x="754380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6" name="Shape 54"/>
          <p:cNvSpPr/>
          <p:nvPr/>
        </p:nvSpPr>
        <p:spPr>
          <a:xfrm>
            <a:off x="818388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7" name="Shape 55"/>
          <p:cNvSpPr/>
          <p:nvPr/>
        </p:nvSpPr>
        <p:spPr>
          <a:xfrm>
            <a:off x="8823960" y="55778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8" name="Shape 56"/>
          <p:cNvSpPr/>
          <p:nvPr/>
        </p:nvSpPr>
        <p:spPr>
          <a:xfrm>
            <a:off x="18288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59" name="Shape 57"/>
          <p:cNvSpPr/>
          <p:nvPr/>
        </p:nvSpPr>
        <p:spPr>
          <a:xfrm>
            <a:off x="82296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0" name="Shape 58"/>
          <p:cNvSpPr/>
          <p:nvPr/>
        </p:nvSpPr>
        <p:spPr>
          <a:xfrm>
            <a:off x="146304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1" name="Shape 59"/>
          <p:cNvSpPr/>
          <p:nvPr/>
        </p:nvSpPr>
        <p:spPr>
          <a:xfrm>
            <a:off x="210312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2" name="Shape 60"/>
          <p:cNvSpPr/>
          <p:nvPr/>
        </p:nvSpPr>
        <p:spPr>
          <a:xfrm>
            <a:off x="274320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8328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4" name="Shape 62"/>
          <p:cNvSpPr/>
          <p:nvPr/>
        </p:nvSpPr>
        <p:spPr>
          <a:xfrm>
            <a:off x="402336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5" name="Shape 63"/>
          <p:cNvSpPr/>
          <p:nvPr/>
        </p:nvSpPr>
        <p:spPr>
          <a:xfrm>
            <a:off x="466344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6" name="Shape 64"/>
          <p:cNvSpPr/>
          <p:nvPr/>
        </p:nvSpPr>
        <p:spPr>
          <a:xfrm>
            <a:off x="530352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7" name="Shape 65"/>
          <p:cNvSpPr/>
          <p:nvPr/>
        </p:nvSpPr>
        <p:spPr>
          <a:xfrm>
            <a:off x="594360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8" name="Shape 66"/>
          <p:cNvSpPr/>
          <p:nvPr/>
        </p:nvSpPr>
        <p:spPr>
          <a:xfrm>
            <a:off x="658368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69" name="Shape 67"/>
          <p:cNvSpPr/>
          <p:nvPr/>
        </p:nvSpPr>
        <p:spPr>
          <a:xfrm>
            <a:off x="722376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0" name="Shape 68"/>
          <p:cNvSpPr/>
          <p:nvPr/>
        </p:nvSpPr>
        <p:spPr>
          <a:xfrm>
            <a:off x="786384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1" name="Shape 69"/>
          <p:cNvSpPr/>
          <p:nvPr/>
        </p:nvSpPr>
        <p:spPr>
          <a:xfrm>
            <a:off x="8503920" y="60350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2" name="Shape 70"/>
          <p:cNvSpPr/>
          <p:nvPr/>
        </p:nvSpPr>
        <p:spPr>
          <a:xfrm>
            <a:off x="50292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3" name="Shape 71"/>
          <p:cNvSpPr/>
          <p:nvPr/>
        </p:nvSpPr>
        <p:spPr>
          <a:xfrm>
            <a:off x="114300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4" name="Shape 72"/>
          <p:cNvSpPr/>
          <p:nvPr/>
        </p:nvSpPr>
        <p:spPr>
          <a:xfrm>
            <a:off x="178308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5" name="Shape 73"/>
          <p:cNvSpPr/>
          <p:nvPr/>
        </p:nvSpPr>
        <p:spPr>
          <a:xfrm>
            <a:off x="242316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6" name="Shape 74"/>
          <p:cNvSpPr/>
          <p:nvPr/>
        </p:nvSpPr>
        <p:spPr>
          <a:xfrm>
            <a:off x="306324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7" name="Shape 75"/>
          <p:cNvSpPr/>
          <p:nvPr/>
        </p:nvSpPr>
        <p:spPr>
          <a:xfrm>
            <a:off x="370332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8" name="Shape 76"/>
          <p:cNvSpPr/>
          <p:nvPr/>
        </p:nvSpPr>
        <p:spPr>
          <a:xfrm>
            <a:off x="434340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79" name="Shape 77"/>
          <p:cNvSpPr/>
          <p:nvPr/>
        </p:nvSpPr>
        <p:spPr>
          <a:xfrm>
            <a:off x="498348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0" name="Shape 78"/>
          <p:cNvSpPr/>
          <p:nvPr/>
        </p:nvSpPr>
        <p:spPr>
          <a:xfrm>
            <a:off x="562356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1" name="Shape 79"/>
          <p:cNvSpPr/>
          <p:nvPr/>
        </p:nvSpPr>
        <p:spPr>
          <a:xfrm>
            <a:off x="626364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2" name="Shape 80"/>
          <p:cNvSpPr/>
          <p:nvPr/>
        </p:nvSpPr>
        <p:spPr>
          <a:xfrm>
            <a:off x="690372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3" name="Shape 81"/>
          <p:cNvSpPr/>
          <p:nvPr/>
        </p:nvSpPr>
        <p:spPr>
          <a:xfrm>
            <a:off x="754380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4" name="Shape 82"/>
          <p:cNvSpPr/>
          <p:nvPr/>
        </p:nvSpPr>
        <p:spPr>
          <a:xfrm>
            <a:off x="818388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5" name="Shape 83"/>
          <p:cNvSpPr/>
          <p:nvPr/>
        </p:nvSpPr>
        <p:spPr>
          <a:xfrm>
            <a:off x="8823960" y="6492240"/>
            <a:ext cx="54864" cy="54864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86" name="Shape 84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87" name="Shape 85"/>
          <p:cNvSpPr/>
          <p:nvPr/>
        </p:nvSpPr>
        <p:spPr>
          <a:xfrm>
            <a:off x="10607040" y="-182880"/>
            <a:ext cx="2377440" cy="2377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8" name="Text 86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HARDWARE · 2026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594360" y="17830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Computers</a:t>
            </a:r>
            <a:endParaRPr lang="en-US" sz="4800" dirty="0"/>
          </a:p>
        </p:txBody>
      </p:sp>
      <p:sp>
        <p:nvSpPr>
          <p:cNvPr id="90" name="Text 88"/>
          <p:cNvSpPr/>
          <p:nvPr/>
        </p:nvSpPr>
        <p:spPr>
          <a:xfrm>
            <a:off x="640080" y="2880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platforms and architectures of quantum processors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640080" y="3611880"/>
            <a:ext cx="1280160" cy="0"/>
          </a:xfrm>
          <a:prstGeom prst="line">
            <a:avLst/>
          </a:prstGeom>
          <a:noFill/>
          <a:ln w="38100">
            <a:solidFill>
              <a:srgbClr val="3DDB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0080" y="38404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superconducting chips to diamond NV centers: a look at the technologies defining the quantum computing race</a:t>
            </a:r>
            <a:endParaRPr lang="en-US" sz="1250" dirty="0"/>
          </a:p>
        </p:txBody>
      </p:sp>
      <p:sp>
        <p:nvSpPr>
          <p:cNvPr id="93" name="Text 9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race reaches a new level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 has been a turning point: qubit counts are rising, error rates are falling, and several competing architectures are hitting the market at once - from superconductors to room-temperature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06040"/>
            <a:ext cx="457200" cy="54864"/>
          </a:xfrm>
          <a:prstGeom prst="rect">
            <a:avLst/>
          </a:prstGeom>
          <a:solidFill>
            <a:srgbClr val="3DDB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157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platforms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23317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2606040"/>
            <a:ext cx="457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7157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02152" y="3429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in new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systems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3317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18504" y="260604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27157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72784" y="3429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systems built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server racks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60536" y="23317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89136" y="2606040"/>
            <a:ext cx="457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9043416" y="27157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043416" y="3429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for practical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risk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trend: three competing qubit technologies - superconducting, trapped-ion, and neutral-atom - are advancing in parallel, while new approaches (diamond NV centers) do away with cryogenics altogether.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173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 QUBITS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Willow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chip fabricated 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own facility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Santa Barbara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57200" cy="457200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7955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Below-threshold error correction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117043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demonstration of exponentially falling error rates as the qubit grid scales up.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40680" y="20299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coherence times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24048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lifetimes now reach values orders of magnitude longer than in previous chip generations.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57200" cy="457200"/>
          </a:xfrm>
          <a:prstGeom prst="ellipse">
            <a:avLst/>
          </a:prstGeom>
          <a:solidFill>
            <a:srgbClr val="1C235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32644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Circuit Sampling benchmark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0680" y="363931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solved in 5 minutes would take the fastest supercomputers an astronomical amount of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572000"/>
            <a:ext cx="6675120" cy="0"/>
          </a:xfrm>
          <a:prstGeom prst="line">
            <a:avLst/>
          </a:prstGeom>
          <a:noFill/>
          <a:ln w="12700">
            <a:solidFill>
              <a:srgbClr val="2A31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7548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architecture: most Willow qubits have four neighbors (versus 2-3 on earlier chips), which strengthens resilience to noise.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SUPERCONDUCTORS: THE 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and Chinese labs are close behind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Quantum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40487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Osprey/Condor line and its successors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926080"/>
            <a:ext cx="44348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27832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815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topology: each qubit connects to only 2-3 neighbors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005072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5876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Qiskit software ecosystem for enterprise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782312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36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is aimed at modular, multi-chip systems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6916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0116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Zuchongzhi 3.0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240487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superconducting quantum processor program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926080"/>
            <a:ext cx="4434840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227832"/>
            <a:ext cx="73152" cy="7315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0815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the computational gap with classical computers in sampling tests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005072"/>
            <a:ext cx="73152" cy="7315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85876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error-correction methods pioneered by Google Willow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4782312"/>
            <a:ext cx="73152" cy="7315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636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practical quantum simulation applications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TRAPPED-ION QUBITS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Qusepts: a seven-level quantum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8778240" cy="0"/>
          </a:xfrm>
          <a:prstGeom prst="line">
            <a:avLst/>
          </a:prstGeom>
          <a:noFill/>
          <a:ln w="25400">
            <a:solidFill>
              <a:srgbClr val="2A316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640080" cy="640080"/>
          </a:xfrm>
          <a:prstGeom prst="ellipse">
            <a:avLst/>
          </a:prstGeom>
          <a:solidFill>
            <a:srgbClr val="3DDB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640080" cy="640080"/>
          </a:xfrm>
          <a:prstGeom prst="ellipse">
            <a:avLst/>
          </a:prstGeom>
          <a:solidFill>
            <a:srgbClr val="3DDB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0" y="2103120"/>
            <a:ext cx="640080" cy="640080"/>
          </a:xfrm>
          <a:prstGeom prst="ellipse">
            <a:avLst/>
          </a:prstGeom>
          <a:solidFill>
            <a:srgbClr val="3DDB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0" y="21031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levels of quantum state in a single ion - a “qusept”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21736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886200"/>
            <a:ext cx="365760" cy="54864"/>
          </a:xfrm>
          <a:prstGeom prst="rect">
            <a:avLst/>
          </a:prstGeom>
          <a:solidFill>
            <a:srgbClr val="3DDBD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23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Quantum Center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553712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Unveiled the first trapped-ion quantum computer built on qusepts - a system operating on seven state levels instead of the usual two.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6576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21736"/>
          </a:solidFill>
          <a:ln/>
        </p:spPr>
      </p:sp>
      <p:sp>
        <p:nvSpPr>
          <p:cNvPr id="25" name="Shape 23"/>
          <p:cNvSpPr/>
          <p:nvPr/>
        </p:nvSpPr>
        <p:spPr>
          <a:xfrm>
            <a:off x="4434840" y="3886200"/>
            <a:ext cx="365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023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and field control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34840" y="4553712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atoms are isolated in a vacuum and manipulated with lasers and electromagnetic fields - a classic, but highly precise, method.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36576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21736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3886200"/>
            <a:ext cx="365760" cy="54864"/>
          </a:xfrm>
          <a:prstGeom prst="rect">
            <a:avLst/>
          </a:prstGeom>
          <a:solidFill>
            <a:srgbClr val="3DDBD9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4023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information density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92440" y="4553712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qudits/qusepts let more information be encoded on a single physical carrier than binary qubits allow.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ATOMS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generation of scalable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92608" cy="292608"/>
          </a:xfrm>
          <a:prstGeom prst="ellipse">
            <a:avLst/>
          </a:prstGeom>
          <a:solidFill>
            <a:srgbClr val="E3E7F5"/>
          </a:solidFill>
          <a:ln w="12700">
            <a:solidFill>
              <a:srgbClr val="D5D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1828800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6816" y="1828800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3744" y="1828800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0672" y="1828800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828800"/>
            <a:ext cx="292608" cy="292608"/>
          </a:xfrm>
          <a:prstGeom prst="ellipse">
            <a:avLst/>
          </a:prstGeom>
          <a:solidFill>
            <a:srgbClr val="E3E7F5"/>
          </a:solidFill>
          <a:ln w="12700">
            <a:solidFill>
              <a:srgbClr val="D5D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828800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91456" y="1828800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395728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9888" y="2395728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6816" y="2395728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3744" y="2395728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2395728"/>
            <a:ext cx="292608" cy="292608"/>
          </a:xfrm>
          <a:prstGeom prst="ellipse">
            <a:avLst/>
          </a:prstGeom>
          <a:solidFill>
            <a:srgbClr val="E3E7F5"/>
          </a:solidFill>
          <a:ln w="12700">
            <a:solidFill>
              <a:srgbClr val="D5D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395728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2395728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91456" y="2395728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962656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2962656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56816" y="2962656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3744" y="2962656"/>
            <a:ext cx="292608" cy="292608"/>
          </a:xfrm>
          <a:prstGeom prst="ellipse">
            <a:avLst/>
          </a:prstGeom>
          <a:solidFill>
            <a:srgbClr val="E3E7F5"/>
          </a:solidFill>
          <a:ln w="12700">
            <a:solidFill>
              <a:srgbClr val="D5D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2962656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2962656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2962656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1456" y="2962656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529584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9888" y="3529584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6816" y="3529584"/>
            <a:ext cx="292608" cy="292608"/>
          </a:xfrm>
          <a:prstGeom prst="ellipse">
            <a:avLst/>
          </a:prstGeom>
          <a:solidFill>
            <a:srgbClr val="E3E7F5"/>
          </a:solidFill>
          <a:ln w="12700">
            <a:solidFill>
              <a:srgbClr val="D5D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23744" y="3529584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90672" y="3529584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3529584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24528" y="3529584"/>
            <a:ext cx="292608" cy="292608"/>
          </a:xfrm>
          <a:prstGeom prst="ellipse">
            <a:avLst/>
          </a:prstGeom>
          <a:solidFill>
            <a:srgbClr val="3DDB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3529584"/>
            <a:ext cx="292608" cy="292608"/>
          </a:xfrm>
          <a:prstGeom prst="ellipse">
            <a:avLst/>
          </a:prstGeom>
          <a:solidFill>
            <a:srgbClr val="E3E7F5"/>
          </a:solidFill>
          <a:ln w="12700">
            <a:solidFill>
              <a:srgbClr val="D5D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187952"/>
            <a:ext cx="4535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optical tweezers: each dot is a potential atom-qubit position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qubits per platform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49224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architecture solves the scaling problem for neutral-atom quantum processors: three platforms with 70+ qubits, along with dozens of algorithms and software tools already available for experimentation.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92240" y="359359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34472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are held by laser “tweezers” inside a vacuum chamber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92240" y="41879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40416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reconfigurable geometry of qubit connections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92240" y="478231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46360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for quantum chemistry algorithms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217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NV CENTERS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SAXON Q: quantum chips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cryogenics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startup SAXON Q has unveiled the first commercial quantum processors built on diamond nitrogen-vacancy (NV) centers to pass the 10-qubit mark - the SXQ128 and SXQ512 systems.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4864" cy="502920"/>
          </a:xfrm>
          <a:prstGeom prst="rect">
            <a:avLst/>
          </a:prstGeom>
          <a:solidFill>
            <a:srgbClr val="3DDBD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81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SXQ128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30815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qubits · 8 entangled qubits per 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30752"/>
            <a:ext cx="54864" cy="502920"/>
          </a:xfrm>
          <a:prstGeom prst="rect">
            <a:avLst/>
          </a:prstGeom>
          <a:solidFill>
            <a:srgbClr val="3DDBD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SXQ512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3703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qubits · 16 entangled qubits per 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52544"/>
            <a:ext cx="54864" cy="502920"/>
          </a:xfrm>
          <a:prstGeom prst="rect">
            <a:avLst/>
          </a:prstGeom>
          <a:solidFill>
            <a:srgbClr val="3DDBD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251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43251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temperature - no bulky cryogenic setup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74336"/>
            <a:ext cx="54864" cy="502920"/>
          </a:xfrm>
          <a:prstGeom prst="rect">
            <a:avLst/>
          </a:prstGeom>
          <a:solidFill>
            <a:srgbClr val="3DDBD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469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494690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6-10x lower than GPU clusters for equivalent tasks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914400"/>
            <a:ext cx="822960" cy="822960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💎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can start small and scale up quantum capacity as their computing needs grow.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3291840"/>
            <a:ext cx="2926080" cy="0"/>
          </a:xfrm>
          <a:prstGeom prst="line">
            <a:avLst/>
          </a:prstGeom>
          <a:noFill/>
          <a:ln w="12700">
            <a:solidFill>
              <a:srgbClr val="2A31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3886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algorithms and quantum chemistry simulation - the SXQ128 targets near-term workloads.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5120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220+ patents already filed by the company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SYSTEMS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quantum computer that fits in a standard server rack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291840" cy="4206240"/>
          </a:xfrm>
          <a:prstGeom prst="roundRect">
            <a:avLst>
              <a:gd name="adj" fmla="val 1667"/>
            </a:avLst>
          </a:prstGeom>
          <a:solidFill>
            <a:srgbClr val="1A1F3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2A316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50592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2A316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935224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2A316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419856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3538728"/>
            <a:ext cx="146304" cy="146304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904488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4023360"/>
            <a:ext cx="146304" cy="146304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389120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2A316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873752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2A316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358384"/>
            <a:ext cx="2926080" cy="384048"/>
          </a:xfrm>
          <a:prstGeom prst="roundRect">
            <a:avLst>
              <a:gd name="adj" fmla="val 9524"/>
            </a:avLst>
          </a:prstGeom>
          <a:solidFill>
            <a:srgbClr val="2A316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6080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19″ rack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178308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Equal1 · RacQ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2176272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Irish company, May 2026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27432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quantum computer that fits into a standard 19-inch server rack - no costly overhaul of a data center's infrastructure required.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703320"/>
            <a:ext cx="617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existing data centers with no modernization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43159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4270248"/>
            <a:ext cx="617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hybrid classical-quantum workloads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0" y="48828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882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837176"/>
            <a:ext cx="617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barrier to entry for enterprise users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technologies, five trade-offs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  <a:gridCol w="28346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DB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DB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DB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DB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5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Superconductors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Willow, IBM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gate speeds, mature ecosystem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cryogenics at ~10 mK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Trapped 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 Quantum Center (qusepts)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fidelity, long coherence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gate operations, harder to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atoms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70+ qubit platforms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geometry, scalable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a young 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 NV centers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SAXON Q SXQ128/512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temperature, low power draw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qubit density for now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Photonic / qudit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Austria-China, 4D states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Resilient to decoherence, long-range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E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control of multi-dimensional states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6035040"/>
            <a:ext cx="3108960" cy="310896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6355080"/>
            <a:ext cx="1645920" cy="1645920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OUTLOOK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quantum hardware is headed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9019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diversification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architecture has become the standard - superconductors, ions, neutral atoms, and NV centers are advancing side by side.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535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lab to data center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systems (Equal1 RacQ) and cryogenics-free designs (SAXON Q) are lowering the barrier to integrating with existing IT infrastructure.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0050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1,000-qubit mark is near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expect the first 1,000+ qubit systems in 2026, bringing practical cryptographic risk closer to a 2028 horizon.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789920" cy="0"/>
          </a:xfrm>
          <a:prstGeom prst="line">
            <a:avLst/>
          </a:prstGeom>
          <a:noFill/>
          <a:ln w="12700">
            <a:solidFill>
              <a:srgbClr val="2A31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race is far from over: the next 2-3 years will show which combination of technologies comes out on top.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2026-09-16T08:33:33Z</dcterms:created>
  <dcterms:modified xsi:type="dcterms:W3CDTF">2026-09-16T08:33:33Z</dcterms:modified>
</cp:coreProperties>
</file>